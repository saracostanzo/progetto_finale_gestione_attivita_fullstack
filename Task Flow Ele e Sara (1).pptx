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3D20DE-A2EF-46F6-AB24-3F0BC5426C42}">
  <a:tblStyle styleId="{DB3D20DE-A2EF-46F6-AB24-3F0BC5426C4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5f34f942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8b5f34f942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8b5f34f942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b5f34f942_2_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8b5f34f942_2_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8b5f34f942_2_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b5f34f942_2_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8b5f34f942_2_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8b5f34f942_2_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b5f34f942_2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8b5f34f942_2_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8b5f34f942_2_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b5f34f942_2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8b5f34f942_2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8b5f34f942_2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b5f34f942_2_1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8b5f34f942_2_14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8b5f34f942_2_14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b5f34f942_2_1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8b5f34f942_2_1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8b5f34f942_2_1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b5f34f942_2_2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8b5f34f942_2_2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8b5f34f942_2_2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D3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A2850"/>
          </a:solidFill>
          <a:ln cap="flat" cmpd="sng" w="12700">
            <a:solidFill>
              <a:srgbClr val="2A28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309360" y="0"/>
            <a:ext cx="73152" cy="514350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502920" y="73152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it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02920" y="169164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7200"/>
              <a:buFont typeface="Calibri"/>
              <a:buNone/>
            </a:pPr>
            <a:r>
              <a:rPr b="1" i="0" lang="it" sz="72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02920" y="283464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600"/>
              <a:buFont typeface="Calibri"/>
              <a:buNone/>
            </a:pPr>
            <a:r>
              <a:rPr b="0" i="1" lang="it" sz="16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Progetto Finale Fullstack – Gestione Attivita'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02920" y="3337560"/>
            <a:ext cx="3474720" cy="36576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6629400" y="640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812280" y="960120"/>
            <a:ext cx="2011680" cy="36576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6629400" y="1005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Sara Costanzo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629400" y="1417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HTML  CSS  JavaScript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629400" y="23317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812280" y="2651760"/>
            <a:ext cx="2011680" cy="36576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62940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Eleonora D'Aniello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629400" y="31089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Java  Spring Boot  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02920" y="470916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Consulting  |  A.A. 2025/2026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it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Panoramica del Progetto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20040" y="5486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0" i="1" lang="it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Obiettivo e tecnologie utilizzate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20040" y="1024128"/>
            <a:ext cx="402336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20040" y="1024128"/>
            <a:ext cx="4023360" cy="73152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75488" y="11155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75488" y="1490472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TaskFlow</a:t>
            </a:r>
            <a:r>
              <a:rPr b="0" i="0" lang="it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e' un'applicazione web fullstack per la</a:t>
            </a:r>
            <a:r>
              <a:rPr b="1" i="0" lang="it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gestione personale di attivita' (task manager).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75488" y="2176272"/>
            <a:ext cx="37490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t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Registrazione e login sicuri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t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Creazione, modifica ed eliminazione task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t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Filtraggio per stato e priorita'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t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Visualizzazione scadenze e dettagli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t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Interfaccia responsive e intuitiva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663440" y="1024128"/>
            <a:ext cx="416052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663440" y="1024128"/>
            <a:ext cx="4160520" cy="73152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4818888" y="11155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Stack Tecnologico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818888" y="160020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818888" y="18288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it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HTML5  |  CSS3  |  JavaScript ES6+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818888" y="21214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818888" y="235000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it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Java 21  |  Spring Boot  |  Spring MVC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818888" y="26426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PERSISTENZA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818888" y="287121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it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Spring Data JPA  |  Hibernate ORM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818888" y="316382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818888" y="339242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it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PostgreSQL (schema gestito da Hibernate)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18888" y="368503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VALIDAZIONE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818888" y="391363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it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Jakarta Validation  |  Bean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818888" y="42062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COMUNICAZIONE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818888" y="4434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it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REST API  |  JSON  |  CORS abilitato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it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Architettura del Sistema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20040" y="5486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0" i="1" lang="it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Flusso Client-Server a tre livelli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65760" y="1234440"/>
            <a:ext cx="1920240" cy="292608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365760" y="12984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65760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D8FF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D0D8FF"/>
                </a:solidFill>
                <a:latin typeface="Calibri"/>
                <a:ea typeface="Calibri"/>
                <a:cs typeface="Calibri"/>
                <a:sym typeface="Calibri"/>
              </a:rPr>
              <a:t>Chrome / Firefox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502920" y="1993392"/>
            <a:ext cx="1645920" cy="27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438912" y="2084832"/>
            <a:ext cx="177393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login.html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register.html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dashboard.html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304288" y="2578608"/>
            <a:ext cx="237744" cy="36576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2441448" y="2468880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2542032" y="1234440"/>
            <a:ext cx="1920240" cy="292608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2542032" y="12984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542032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D8FF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D0D8FF"/>
                </a:solidFill>
                <a:latin typeface="Calibri"/>
                <a:ea typeface="Calibri"/>
                <a:cs typeface="Calibri"/>
                <a:sym typeface="Calibri"/>
              </a:rPr>
              <a:t>JavaScript + 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2679192" y="1993392"/>
            <a:ext cx="1645920" cy="27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2615184" y="2084832"/>
            <a:ext cx="177393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config.js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login.js  register.js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dashboard.js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480560" y="2578608"/>
            <a:ext cx="237744" cy="36576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4617720" y="2468880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718304" y="1234440"/>
            <a:ext cx="1920240" cy="292608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4718304" y="12984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718304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D8FF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D0D8FF"/>
                </a:solidFill>
                <a:latin typeface="Calibri"/>
                <a:ea typeface="Calibri"/>
                <a:cs typeface="Calibri"/>
                <a:sym typeface="Calibri"/>
              </a:rPr>
              <a:t>Spring Boot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855464" y="1993392"/>
            <a:ext cx="1645920" cy="27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791456" y="2084832"/>
            <a:ext cx="177393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UserController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TaskController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Service + JPA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656832" y="2578608"/>
            <a:ext cx="237744" cy="36576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793992" y="2468880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894576" y="1234440"/>
            <a:ext cx="1920240" cy="292608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6894576" y="12984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894576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D8FF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D0D8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7031736" y="1993392"/>
            <a:ext cx="1645920" cy="27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6967728" y="2084832"/>
            <a:ext cx="177393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Tabella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Tabella tasks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Hibernate 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CORS abilitato per localhost:5501 e 127.0.0.1:5501  |  Porta backend: 8080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it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 –  Sara Costanzo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20040" y="5486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0" i="1" lang="it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HTML5  |  CSS3  |  JavaScript (Vanilla)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20040" y="1024128"/>
            <a:ext cx="274320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320040" y="1024128"/>
            <a:ext cx="2743200" cy="59436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29768" y="1051560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29768" y="1362456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login.html + login.js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29768" y="1691640"/>
            <a:ext cx="2523744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Form con email (type=email) e password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Validazione: bordo rosso se email non valida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Controllo campi vuoti lato client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Redirect automatico se gia' autenticato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Sessione salvata in localStorage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246120" y="1024128"/>
            <a:ext cx="274320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3246120" y="1024128"/>
            <a:ext cx="2743200" cy="59436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3355848" y="1051560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Registrazione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3355848" y="1362456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register.html + register.js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3355848" y="1691640"/>
            <a:ext cx="2523744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Form: username, email, password, conferma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Controllo password minimo 6 caratteri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Verifica coincidenza password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Messaggio errore da risposta JSON 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Redirect a login dopo successo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172200" y="1024128"/>
            <a:ext cx="274320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6172200" y="1024128"/>
            <a:ext cx="2743200" cy="59436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281928" y="1051560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281928" y="1362456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dashboard.html + dashboard.js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281928" y="1691640"/>
            <a:ext cx="2523744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Tabella task con badge stato e priorita'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Filtri per stato e priorita'</a:t>
            </a:r>
            <a:r>
              <a:rPr lang="it" sz="11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aggiornati direttamente dal 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Modal per creare e modificare task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Conferma prima di eliminare un task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it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Logout con pulizia localStorage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it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 –  Eleonora D'Aniello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20040" y="5486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0" i="1" lang="it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Java 21  |  Spring Boot  |  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20040" y="1051560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320040" y="1051560"/>
            <a:ext cx="64008" cy="118872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02920" y="1143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02920" y="1435608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UserController e TaskController gestiscono le richieste HTTP. Validazione con @Validated e BindingResult. Risposte strutturate con ResponseEntity.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754880" y="1051560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4754880" y="1051560"/>
            <a:ext cx="64008" cy="118872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4937760" y="1143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937760" y="1435608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UserService e TaskService contengono la business logic. Metodi: create, update, delete, getAll, getByEmailAndPassword.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20040" y="2395728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320040" y="2395728"/>
            <a:ext cx="64008" cy="118872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02920" y="248716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02920" y="2779776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UserRepository e TaskRepository estendono JpaRepository&lt;T, Long&gt; per CRUD automatico su PostgreSQL tramite Hibernate.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754880" y="2395728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4754880" y="2395728"/>
            <a:ext cx="64008" cy="118872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4937760" y="248716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Model / Entita'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4937760" y="2779776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User (id, username, email, password, tasks) e Task (id, titolo, descrizione, stato, priorita, date, user). Relazione ManyToOne.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20040" y="3739896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320040" y="3739896"/>
            <a:ext cx="64008" cy="118872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02920" y="38313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DTO + Validazione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02920" y="4123944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LoginDto, UserDto, TaskDto con @Email, @NotBlank, @NotNull, @Positive. Messaggi di errore localizzati.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754880" y="3739896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4754880" y="3739896"/>
            <a:ext cx="64008" cy="118872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4937760" y="38313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Enumerazioni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4937760" y="4123944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Stato: DAFARE, INCORSO, COMPLETATO. Priorita: ALTA, MEDIA, BASSA. Persistite come stringhe con @Enumerated(STRING).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it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REST  –  Endpoints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20040" y="5486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0" i="1" lang="it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Comunicazione Frontend ↔ Backend via HTTP/JSON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20"/>
          <p:cNvGraphicFramePr/>
          <p:nvPr/>
        </p:nvGraphicFramePr>
        <p:xfrm>
          <a:off x="32004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{DB3D20DE-A2EF-46F6-AB24-3F0BC5426C42}</a:tableStyleId>
              </a:tblPr>
              <a:tblGrid>
                <a:gridCol w="1051550"/>
                <a:gridCol w="2651750"/>
                <a:gridCol w="4800600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it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D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it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D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it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Descrizione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D3A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it" sz="1150" u="none" cap="none" strike="noStrike">
                          <a:solidFill>
                            <a:srgbClr val="2E86A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/api/users/register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 un nuovo utente (username, email, password)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it" sz="1150" u="none" cap="none" strike="noStrike">
                          <a:solidFill>
                            <a:srgbClr val="2E86A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/api/users/login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 l'utente, restituisce oggetto User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it" sz="115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/api/users/{id}/tasks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Recupera i task dell'utente (con filtri opzionali)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A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it" sz="1150" u="none" cap="none" strike="noStrike">
                          <a:solidFill>
                            <a:srgbClr val="2E86A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/api/users/{id}/tasks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 un nuovo task per l'utente specificato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it" sz="115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/api/tasks/{id}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Aggiorna titolo, stato, priorita' e scadenza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it" sz="115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/api/tasks/{id}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it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 definitivamente il task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20"/>
          <p:cNvSpPr/>
          <p:nvPr/>
        </p:nvSpPr>
        <p:spPr>
          <a:xfrm>
            <a:off x="320040" y="468172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Body formato JSON  |  Content-Type: application/json  |  CORS: localhost:5501 / 127.0.0.1:5501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it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 &amp; Debugging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20040" y="5486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0" i="1" lang="it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Problemi individuati e risolti durante lo sviluppo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20040" y="1024128"/>
            <a:ext cx="4023360" cy="41148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438912" y="1069848"/>
            <a:ext cx="3785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 –  Sara Costanzo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20040" y="1536192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320040" y="1536192"/>
            <a:ext cx="64008" cy="59436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02920" y="159105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Card non centrate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02920" y="18105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Commento CSS mancante su "PAGINE LOGIN E REGISTRAZIONE" rendeva .auth-page inapplicabile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20040" y="2194560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320040" y="2194560"/>
            <a:ext cx="64008" cy="59436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02920" y="224942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Email senza validazione visiva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02920" y="24688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Aggiunto CSS input[type=email]:invalid con bordo rosso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320040" y="2852928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320040" y="2852928"/>
            <a:ext cx="64008" cy="59436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02920" y="29077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POST task su URL errato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02920" y="31272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URL "/tasks/userId=X" corretto in "/users/{id}/tasks"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320040" y="3511296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320040" y="3511296"/>
            <a:ext cx="64008" cy="59436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02920" y="356616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Bug variabile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02920" y="37856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const response nell'else nascondeva il let esterno (shadowing)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20040" y="4169664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320040" y="4169664"/>
            <a:ext cx="64008" cy="59436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02920" y="422452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Errore registrazione illeggibile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02920" y="44439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response.text() sostituito con response.json() per leggere messaggio 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754880" y="1024128"/>
            <a:ext cx="4069080" cy="41148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4873752" y="10698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 –  Eleonora D'Aniello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754880" y="1536192"/>
            <a:ext cx="40690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4754880" y="1536192"/>
            <a:ext cx="64008" cy="59436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4937760" y="1591056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ClassNotFoundException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937760" y="181051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pom.xml: Java version 25 → 21, compatibile con JDK installato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754880" y="2194560"/>
            <a:ext cx="40690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4754880" y="2194560"/>
            <a:ext cx="64008" cy="59436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4937760" y="2249424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Errore 500 su POST /tasks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937760" y="246888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@NotBlank su campi enum Stato/Priorita → sostituito con @NotNull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754880" y="2852928"/>
            <a:ext cx="40690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4754880" y="2852928"/>
            <a:ext cx="64008" cy="59436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4937760" y="2907792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Task non filtrati per utente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937760" y="31272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Aggiunto endpoint /users/{id}/tasks con query per userId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754880" y="3511296"/>
            <a:ext cx="40690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4754880" y="3511296"/>
            <a:ext cx="64008" cy="59436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4937760" y="356616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Password DB errata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937760" y="378561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env.properties aggiornato con password PostgreSQL locale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754880" y="4169664"/>
            <a:ext cx="40690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4754880" y="4169664"/>
            <a:ext cx="64008" cy="594360"/>
          </a:xfrm>
          <a:prstGeom prst="rect">
            <a:avLst/>
          </a:prstGeom>
          <a:solidFill>
            <a:srgbClr val="1E1D3A"/>
          </a:solidFill>
          <a:ln cap="flat" cmpd="sng" w="12700">
            <a:solidFill>
              <a:srgbClr val="1E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4937760" y="422452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3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1D3A"/>
                </a:solidFill>
                <a:latin typeface="Calibri"/>
                <a:ea typeface="Calibri"/>
                <a:cs typeface="Calibri"/>
                <a:sym typeface="Calibri"/>
              </a:rPr>
              <a:t>Database inesistente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4937760" y="4443984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Creato database "progettoFinale" su PostgreSQL locale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D3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/>
          <p:nvPr/>
        </p:nvSpPr>
        <p:spPr>
          <a:xfrm>
            <a:off x="5943600" y="0"/>
            <a:ext cx="3200400" cy="2194560"/>
          </a:xfrm>
          <a:prstGeom prst="rect">
            <a:avLst/>
          </a:prstGeom>
          <a:solidFill>
            <a:srgbClr val="2A2850"/>
          </a:solidFill>
          <a:ln cap="flat" cmpd="sng" w="12700">
            <a:solidFill>
              <a:srgbClr val="2A28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916168" y="0"/>
            <a:ext cx="64008" cy="219456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6126480" y="109728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4400"/>
              <a:buFont typeface="Calibri"/>
              <a:buNone/>
            </a:pPr>
            <a:r>
              <a:rPr b="1" i="0" lang="it" sz="44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6126480" y="80467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pagine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7543800" y="109728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4400"/>
              <a:buFont typeface="Calibri"/>
              <a:buNone/>
            </a:pPr>
            <a:r>
              <a:rPr b="1" i="0" lang="it" sz="44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7543800" y="80467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6126480" y="1115568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4400"/>
              <a:buFont typeface="Calibri"/>
              <a:buNone/>
            </a:pPr>
            <a:r>
              <a:rPr b="1" i="0" lang="it" sz="44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6126480" y="181051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bug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risolti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543800" y="1115568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4400"/>
              <a:buFont typeface="Calibri"/>
              <a:buNone/>
            </a:pPr>
            <a:r>
              <a:rPr b="1" i="0" lang="it" sz="44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7543800" y="181051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57200" y="5029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it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Grazie per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57200" y="109728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4600"/>
              <a:buFont typeface="Calibri"/>
              <a:buNone/>
            </a:pPr>
            <a:r>
              <a:rPr b="1" i="0" lang="it" sz="46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l'attenzione!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457200" y="1874520"/>
            <a:ext cx="4572000" cy="36576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457200" y="196596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400"/>
              <a:buFont typeface="Calibri"/>
              <a:buNone/>
            </a:pPr>
            <a:r>
              <a:rPr b="0" i="1" lang="it" sz="14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Progetto Finale Fullstack  –  Gestione Attivita'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57200" y="2560320"/>
            <a:ext cx="4023360" cy="1920240"/>
          </a:xfrm>
          <a:prstGeom prst="rect">
            <a:avLst/>
          </a:prstGeom>
          <a:solidFill>
            <a:srgbClr val="2A2850"/>
          </a:solidFill>
          <a:ln cap="flat" cmpd="sng" w="12700">
            <a:solidFill>
              <a:srgbClr val="2A285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457200" y="2560320"/>
            <a:ext cx="64008" cy="192024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621792" y="270662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it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Sara Costanzo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621792" y="314553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0" i="0" lang="it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Frontend 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621792" y="34747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HTML  |  CSS  |  JavaScript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800600" y="2560320"/>
            <a:ext cx="4023360" cy="1920240"/>
          </a:xfrm>
          <a:prstGeom prst="rect">
            <a:avLst/>
          </a:prstGeom>
          <a:solidFill>
            <a:srgbClr val="2A2850"/>
          </a:solidFill>
          <a:ln cap="flat" cmpd="sng" w="12700">
            <a:solidFill>
              <a:srgbClr val="2A285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4800600" y="2560320"/>
            <a:ext cx="64008" cy="192024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4965192" y="270662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it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Eleonora D'Aniello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965192" y="314553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0" i="0" lang="it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Backend 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965192" y="34747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Java  |  Spring Boot  |  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Consulting  |  A.A. 2025/2026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